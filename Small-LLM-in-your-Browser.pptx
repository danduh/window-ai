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468880"/>
            <a:ext cx="164592" cy="2194560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9659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4A9EFF"/>
                </a:solidFill>
                <a:latin typeface="Consolas"/>
              </a:rPr>
              <a:t>A CONFERENCE TALK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1124712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 i="0">
                <a:solidFill>
                  <a:srgbClr val="FFFFFF"/>
                </a:solidFill>
                <a:latin typeface="Trebuchet MS"/>
              </a:rPr>
              <a:t>Small LLM in your Browser.</a:t>
            </a:r>
          </a:p>
          <a:p>
            <a:pPr algn="l">
              <a:lnSpc>
                <a:spcPct val="110000"/>
              </a:lnSpc>
            </a:pPr>
            <a:r>
              <a:rPr sz="4400" b="1" i="0">
                <a:solidFill>
                  <a:srgbClr val="4A9EFF"/>
                </a:solidFill>
                <a:latin typeface="Trebuchet MS"/>
              </a:rPr>
              <a:t>Huge Opportunities</a:t>
            </a:r>
          </a:p>
          <a:p>
            <a:pPr algn="l">
              <a:lnSpc>
                <a:spcPct val="110000"/>
              </a:lnSpc>
            </a:pPr>
            <a:r>
              <a:rPr sz="4400" b="1" i="0">
                <a:solidFill>
                  <a:srgbClr val="FFFFFF"/>
                </a:solidFill>
                <a:latin typeface="Trebuchet MS"/>
              </a:rPr>
              <a:t>for Web Apps.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983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1">
                <a:solidFill>
                  <a:srgbClr val="8B95A7"/>
                </a:solidFill>
                <a:latin typeface="Calibri"/>
              </a:rPr>
              <a:t>Your browser is hiding an LLM. Let's go find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080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nsolas"/>
              </a:rPr>
              <a:t>DANIEL OSADCHENKO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355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B95A7"/>
                </a:solidFill>
                <a:latin typeface="Consolas"/>
              </a:rPr>
              <a:t>windowai.danduh.me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B84A"/>
                </a:solidFill>
                <a:latin typeface="Consolas"/>
              </a:rPr>
              <a:t>▌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0" i="0">
                <a:solidFill>
                  <a:srgbClr val="FFFFFF"/>
                </a:solidFill>
                <a:latin typeface="Consolas"/>
              </a:rPr>
              <a:t>[ talk into the mic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749039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 i="1">
                <a:solidFill>
                  <a:srgbClr val="8B95A7"/>
                </a:solidFill>
                <a:latin typeface="Calibri"/>
              </a:rPr>
              <a:t>watch the page translate you, live, into four languages.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4A9EFF"/>
                </a:solidFill>
                <a:latin typeface="Consolas"/>
              </a:rPr>
              <a:t>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114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B95A7"/>
                </a:solidFill>
                <a:latin typeface="Consolas"/>
              </a:rPr>
              <a:t>VIEW-SOURCE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554480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Trebuchet MS"/>
              </a:rPr>
              <a:t>No backend.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331720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Trebuchet MS"/>
              </a:rPr>
              <a:t>No API key.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108960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Trebuchet MS"/>
              </a:rPr>
              <a:t>No tokens.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886200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Trebuchet MS"/>
              </a:rPr>
              <a:t>No $0.002/request.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234440" y="1901952"/>
            <a:ext cx="3886200" cy="0"/>
          </a:xfrm>
          <a:prstGeom prst="line">
            <a:avLst/>
          </a:prstGeom>
          <a:ln w="31750">
            <a:solidFill>
              <a:srgbClr val="FF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234440" y="2679192"/>
            <a:ext cx="3520440" cy="0"/>
          </a:xfrm>
          <a:prstGeom prst="line">
            <a:avLst/>
          </a:prstGeom>
          <a:ln w="31750">
            <a:solidFill>
              <a:srgbClr val="FF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234440" y="3456432"/>
            <a:ext cx="3200400" cy="0"/>
          </a:xfrm>
          <a:prstGeom prst="line">
            <a:avLst/>
          </a:prstGeom>
          <a:ln w="31750">
            <a:solidFill>
              <a:srgbClr val="FF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234440" y="4233672"/>
            <a:ext cx="5669280" cy="0"/>
          </a:xfrm>
          <a:prstGeom prst="line">
            <a:avLst/>
          </a:prstGeom>
          <a:ln w="31750">
            <a:solidFill>
              <a:srgbClr val="FF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31520" y="51206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1">
                <a:solidFill>
                  <a:srgbClr val="4A9EFF"/>
                </a:solidFill>
                <a:latin typeface="Trebuchet MS"/>
              </a:rPr>
              <a:t>Just a static HTML page on a CDN.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7607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8B95A7"/>
                </a:solidFill>
                <a:latin typeface="Calibri"/>
              </a:rPr>
              <a:t>Everything you just saw ran on this laptop.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737360"/>
            <a:ext cx="32004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0" b="1" i="0">
                <a:solidFill>
                  <a:srgbClr val="2C5F9E"/>
                </a:solidFill>
                <a:latin typeface="Trebuchet MS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4023360" y="2651760"/>
            <a:ext cx="54864" cy="2011680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0" y="2651760"/>
            <a:ext cx="758952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Trebuchet MS"/>
              </a:rPr>
              <a:t>WHY THIS CHANGES THE MATH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4297680"/>
            <a:ext cx="75895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8B95A7"/>
                </a:solidFill>
                <a:latin typeface="Calibri"/>
              </a:rPr>
              <a:t>Three things flip at once: cost, latency, and where your users' data sleeps tonight.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4A9EFF"/>
                </a:solidFill>
                <a:latin typeface="Consolas"/>
              </a:rPr>
              <a:t>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11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B95A7"/>
                </a:solidFill>
                <a:latin typeface="Calibri"/>
              </a:rPr>
              <a:t>01 / THE OLD SHAPE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B95A7"/>
                </a:solidFill>
                <a:latin typeface="Consolas"/>
              </a:rPr>
              <a:t>05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550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B95A7"/>
                </a:solidFill>
                <a:latin typeface="Consolas"/>
              </a:rPr>
              <a:t>windowai.danduh.me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8B95A7"/>
                </a:solidFill>
                <a:latin typeface="Consolas"/>
              </a:rPr>
              <a:t>The shape we've been shipping since 2023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11430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Trebuchet MS"/>
              </a:rPr>
              <a:t>User → Your server → Someone else's GPU farm → back.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743200"/>
            <a:ext cx="2011680" cy="1097280"/>
          </a:xfrm>
          <a:prstGeom prst="roundRect">
            <a:avLst>
              <a:gd name="adj" fmla="val 8000"/>
            </a:avLst>
          </a:prstGeom>
          <a:solidFill>
            <a:srgbClr val="141A2C"/>
          </a:solidFill>
          <a:ln w="9525">
            <a:solidFill>
              <a:srgbClr val="262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743200"/>
            <a:ext cx="201168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Trebuchet MS"/>
              </a:rPr>
              <a:t>USER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2743200"/>
            <a:ext cx="2377440" cy="1097280"/>
          </a:xfrm>
          <a:prstGeom prst="roundRect">
            <a:avLst>
              <a:gd name="adj" fmla="val 8000"/>
            </a:avLst>
          </a:prstGeom>
          <a:solidFill>
            <a:srgbClr val="141A2C"/>
          </a:solidFill>
          <a:ln w="9525">
            <a:solidFill>
              <a:srgbClr val="262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2743200"/>
            <a:ext cx="237744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Trebuchet MS"/>
              </a:rPr>
              <a:t>YOUR API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743200"/>
            <a:ext cx="2560320" cy="1097280"/>
          </a:xfrm>
          <a:prstGeom prst="roundRect">
            <a:avLst>
              <a:gd name="adj" fmla="val 8000"/>
            </a:avLst>
          </a:prstGeom>
          <a:solidFill>
            <a:srgbClr val="141A2C"/>
          </a:solidFill>
          <a:ln w="9525">
            <a:solidFill>
              <a:srgbClr val="262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2743200"/>
            <a:ext cx="256032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Trebuchet MS"/>
              </a:rPr>
              <a:t>CLOUD LLM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9760" y="2743200"/>
            <a:ext cx="2194560" cy="1097280"/>
          </a:xfrm>
          <a:prstGeom prst="roundRect">
            <a:avLst>
              <a:gd name="adj" fmla="val 8000"/>
            </a:avLst>
          </a:prstGeom>
          <a:solidFill>
            <a:srgbClr val="141A2C"/>
          </a:solidFill>
          <a:ln w="9525">
            <a:solidFill>
              <a:srgbClr val="262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0" y="2743200"/>
            <a:ext cx="219456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Trebuchet MS"/>
              </a:rPr>
              <a:t>YOUR DB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514600" y="3291840"/>
            <a:ext cx="685800" cy="0"/>
          </a:xfrm>
          <a:prstGeom prst="line">
            <a:avLst/>
          </a:prstGeom>
          <a:ln w="19050">
            <a:solidFill>
              <a:srgbClr val="8B95A7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577840" y="3291840"/>
            <a:ext cx="685800" cy="0"/>
          </a:xfrm>
          <a:prstGeom prst="line">
            <a:avLst/>
          </a:prstGeom>
          <a:ln w="19050">
            <a:solidFill>
              <a:srgbClr val="8B95A7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823960" y="3291840"/>
            <a:ext cx="685800" cy="0"/>
          </a:xfrm>
          <a:prstGeom prst="line">
            <a:avLst/>
          </a:prstGeom>
          <a:ln w="19050">
            <a:solidFill>
              <a:srgbClr val="8B95A7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514600" y="40233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FB84A"/>
                </a:solidFill>
                <a:latin typeface="Consolas"/>
              </a:rPr>
              <a:t>$ per call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40" y="40233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FB84A"/>
                </a:solidFill>
                <a:latin typeface="Consolas"/>
              </a:rPr>
              <a:t>~ 600-1200 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40233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FB84A"/>
                </a:solidFill>
                <a:latin typeface="Consolas"/>
              </a:rPr>
              <a:t>PII leaves device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5120640"/>
            <a:ext cx="11155680" cy="914400"/>
          </a:xfrm>
          <a:prstGeom prst="rect">
            <a:avLst/>
          </a:prstGeom>
          <a:solidFill>
            <a:srgbClr val="141A2C"/>
          </a:solidFill>
          <a:ln w="9525">
            <a:solidFill>
              <a:srgbClr val="262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16636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1">
                <a:solidFill>
                  <a:srgbClr val="8B95A7"/>
                </a:solidFill>
                <a:latin typeface="Calibri"/>
              </a:rPr>
              <a:t>Every feature is a monthly invoice. Every request is a network round-trip. Every payload is a privacy decision.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4A9EFF"/>
                </a:solidFill>
                <a:latin typeface="Consolas"/>
              </a:rPr>
              <a:t>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11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B95A7"/>
                </a:solidFill>
                <a:latin typeface="Calibri"/>
              </a:rPr>
              <a:t>01 / THE NEW SHAPE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B95A7"/>
                </a:solidFill>
                <a:latin typeface="Consolas"/>
              </a:rPr>
              <a:t>06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550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B95A7"/>
                </a:solidFill>
                <a:latin typeface="Consolas"/>
              </a:rPr>
              <a:t>windowai.danduh.me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8B95A7"/>
                </a:solidFill>
                <a:latin typeface="Consolas"/>
              </a:rPr>
              <a:t>The shape we get starting 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11430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Trebuchet MS"/>
              </a:rPr>
              <a:t>Per-call billing collapses to a feature flag.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377440"/>
            <a:ext cx="11155680" cy="2743200"/>
          </a:xfrm>
          <a:prstGeom prst="rect">
            <a:avLst/>
          </a:prstGeom>
          <a:solidFill>
            <a:srgbClr val="141A2C"/>
          </a:solidFill>
          <a:ln w="9525">
            <a:solidFill>
              <a:srgbClr val="262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560320"/>
            <a:ext cx="105156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600" b="1" i="0">
                <a:solidFill>
                  <a:srgbClr val="FFB84A"/>
                </a:solidFill>
                <a:latin typeface="Consolas"/>
              </a:rPr>
              <a:t>if </a:t>
            </a:r>
            <a:r>
              <a:rPr sz="3600" b="0" i="0">
                <a:solidFill>
                  <a:srgbClr val="FFFFFF"/>
                </a:solidFill>
                <a:latin typeface="Consolas"/>
              </a:rPr>
              <a:t>(</a:t>
            </a:r>
            <a:r>
              <a:rPr sz="3600" b="1" i="0">
                <a:solidFill>
                  <a:srgbClr val="4A9EFF"/>
                </a:solidFill>
                <a:latin typeface="Consolas"/>
              </a:rPr>
              <a:t>window.Summarizer</a:t>
            </a:r>
            <a:r>
              <a:rPr sz="3600" b="0" i="0">
                <a:solidFill>
                  <a:srgbClr val="FFFFFF"/>
                </a:solidFill>
                <a:latin typeface="Consolas"/>
              </a:rPr>
              <a:t>) {</a:t>
            </a:r>
          </a:p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8B95A7"/>
                </a:solidFill>
                <a:latin typeface="Consolas"/>
              </a:rPr>
              <a:t>    const summary = await Summarizer</a:t>
            </a:r>
          </a:p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8B95A7"/>
                </a:solidFill>
                <a:latin typeface="Consolas"/>
              </a:rPr>
              <a:t>        .create().summarize(thread);</a:t>
            </a:r>
          </a:p>
          <a:p>
            <a:pPr algn="l">
              <a:lnSpc>
                <a:spcPct val="130000"/>
              </a:lnSpc>
            </a:pPr>
            <a:r>
              <a:rPr sz="3600" b="0" i="0">
                <a:solidFill>
                  <a:srgbClr val="FFFFFF"/>
                </a:solidFill>
                <a:latin typeface="Consolas"/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349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1">
                <a:solidFill>
                  <a:srgbClr val="4AFFA0"/>
                </a:solidFill>
                <a:latin typeface="Trebuchet MS"/>
              </a:rPr>
              <a:t>$0.  No round-trip.  No data leaving the device.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8978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1">
                <a:solidFill>
                  <a:srgbClr val="8B95A7"/>
                </a:solidFill>
                <a:latin typeface="Calibri"/>
              </a:rPr>
              <a:t>The browser ate the API.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4A9EFF"/>
                </a:solidFill>
                <a:latin typeface="Consolas"/>
              </a:rPr>
              <a:t>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11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B95A7"/>
                </a:solidFill>
                <a:latin typeface="Calibri"/>
              </a:rPr>
              <a:t>01 / THREE FLIPS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B95A7"/>
                </a:solidFill>
                <a:latin typeface="Consolas"/>
              </a:rPr>
              <a:t>07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550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B95A7"/>
                </a:solidFill>
                <a:latin typeface="Consolas"/>
              </a:rPr>
              <a:t>windowai.danduh.me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144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Trebuchet MS"/>
              </a:rPr>
              <a:t>Three things flip the moment you call window.ai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920240"/>
            <a:ext cx="3611880" cy="4023360"/>
          </a:xfrm>
          <a:prstGeom prst="rect">
            <a:avLst/>
          </a:prstGeom>
          <a:solidFill>
            <a:srgbClr val="141A2C"/>
          </a:solidFill>
          <a:ln w="9525">
            <a:solidFill>
              <a:srgbClr val="262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920240"/>
            <a:ext cx="3611880" cy="73152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103120"/>
            <a:ext cx="3611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4A9EFF"/>
                </a:solidFill>
                <a:latin typeface="Consolas"/>
              </a:rPr>
              <a:t>COST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697480"/>
            <a:ext cx="3611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 i="0">
                <a:solidFill>
                  <a:srgbClr val="8B95A7"/>
                </a:solidFill>
                <a:latin typeface="Consolas"/>
              </a:rPr>
              <a:t>$0.002 / call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28700.0" y="2907792"/>
            <a:ext cx="2560320.0" cy="0"/>
          </a:xfrm>
          <a:prstGeom prst="line">
            <a:avLst/>
          </a:prstGeom>
          <a:ln w="25400">
            <a:solidFill>
              <a:srgbClr val="FF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02920" y="3383280"/>
            <a:ext cx="3611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4A9EFF"/>
                </a:solidFill>
                <a:latin typeface="Calibri"/>
              </a:rPr>
              <a:t>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023360"/>
            <a:ext cx="3611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400" b="1" i="0">
                <a:solidFill>
                  <a:srgbClr val="4AFFA0"/>
                </a:solidFill>
                <a:latin typeface="Trebuchet MS"/>
              </a:rPr>
              <a:t>$0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937760"/>
            <a:ext cx="3063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8B95A7"/>
                </a:solidFill>
                <a:latin typeface="Calibri"/>
              </a:rPr>
              <a:t>Per-token billing → free.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1920240"/>
            <a:ext cx="3611880" cy="4023360"/>
          </a:xfrm>
          <a:prstGeom prst="rect">
            <a:avLst/>
          </a:prstGeom>
          <a:solidFill>
            <a:srgbClr val="141A2C"/>
          </a:solidFill>
          <a:ln w="9525">
            <a:solidFill>
              <a:srgbClr val="262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1920240"/>
            <a:ext cx="3611880" cy="73152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0" y="2103120"/>
            <a:ext cx="3611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4A9EFF"/>
                </a:solidFill>
                <a:latin typeface="Consolas"/>
              </a:rPr>
              <a:t>LATENCY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2697480"/>
            <a:ext cx="3611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 i="0">
                <a:solidFill>
                  <a:srgbClr val="8B95A7"/>
                </a:solidFill>
                <a:latin typeface="Consolas"/>
              </a:rPr>
              <a:t>600-1200 ms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23460.0" y="2907792"/>
            <a:ext cx="2560320.0" cy="0"/>
          </a:xfrm>
          <a:prstGeom prst="line">
            <a:avLst/>
          </a:prstGeom>
          <a:ln w="25400">
            <a:solidFill>
              <a:srgbClr val="FF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297680" y="3383280"/>
            <a:ext cx="3611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4A9EFF"/>
                </a:solidFill>
                <a:latin typeface="Calibri"/>
              </a:rPr>
              <a:t>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4023360"/>
            <a:ext cx="3611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400" b="1" i="0">
                <a:solidFill>
                  <a:srgbClr val="4AFFA0"/>
                </a:solidFill>
                <a:latin typeface="Trebuchet MS"/>
              </a:rPr>
              <a:t>8-40 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937760"/>
            <a:ext cx="3063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8B95A7"/>
                </a:solidFill>
                <a:latin typeface="Calibri"/>
              </a:rPr>
              <a:t>Network gone. Local inference.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92440" y="1920240"/>
            <a:ext cx="3611880" cy="4023360"/>
          </a:xfrm>
          <a:prstGeom prst="rect">
            <a:avLst/>
          </a:prstGeom>
          <a:solidFill>
            <a:srgbClr val="141A2C"/>
          </a:solidFill>
          <a:ln w="9525">
            <a:solidFill>
              <a:srgbClr val="262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92440" y="1920240"/>
            <a:ext cx="3611880" cy="73152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92440" y="2103120"/>
            <a:ext cx="3611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4A9EFF"/>
                </a:solidFill>
                <a:latin typeface="Consolas"/>
              </a:rPr>
              <a:t>PRIVACY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2697480"/>
            <a:ext cx="3611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 i="0">
                <a:solidFill>
                  <a:srgbClr val="8B95A7"/>
                </a:solidFill>
                <a:latin typeface="Consolas"/>
              </a:rPr>
              <a:t>PII → cloud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618220.0" y="2907792"/>
            <a:ext cx="2560320.0" cy="0"/>
          </a:xfrm>
          <a:prstGeom prst="line">
            <a:avLst/>
          </a:prstGeom>
          <a:ln w="25400">
            <a:solidFill>
              <a:srgbClr val="FF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092440" y="3383280"/>
            <a:ext cx="3611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4A9EFF"/>
                </a:solidFill>
                <a:latin typeface="Calibri"/>
              </a:rPr>
              <a:t>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40" y="4023360"/>
            <a:ext cx="3611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400" b="1" i="0">
                <a:solidFill>
                  <a:srgbClr val="4AFFA0"/>
                </a:solidFill>
                <a:latin typeface="Trebuchet MS"/>
              </a:rPr>
              <a:t>PII stays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4937760"/>
            <a:ext cx="3063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8B95A7"/>
                </a:solidFill>
                <a:latin typeface="Calibri"/>
              </a:rPr>
              <a:t>Nothing leaves the laptop.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737360"/>
            <a:ext cx="32004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0" b="1" i="0">
                <a:solidFill>
                  <a:srgbClr val="2C5F9E"/>
                </a:solidFill>
                <a:latin typeface="Trebuchet MS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4023360" y="2651760"/>
            <a:ext cx="54864" cy="2011680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0" y="2651760"/>
            <a:ext cx="758952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Trebuchet MS"/>
              </a:rPr>
              <a:t>THE TOOLBOX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4297680"/>
            <a:ext cx="75895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8B95A7"/>
                </a:solidFill>
                <a:latin typeface="Calibri"/>
              </a:rPr>
              <a:t>Seven APIs sitting in the global. Most devs don't know they're there.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4A9EFF"/>
                </a:solidFill>
                <a:latin typeface="Consolas"/>
              </a:rPr>
              <a:t>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11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B95A7"/>
                </a:solidFill>
                <a:latin typeface="Calibri"/>
              </a:rPr>
              <a:t>02 / PROMPT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B95A7"/>
                </a:solidFill>
                <a:latin typeface="Consolas"/>
              </a:rPr>
              <a:t>09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550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B95A7"/>
                </a:solidFill>
                <a:latin typeface="Consolas"/>
              </a:rPr>
              <a:t>windowai.danduh.me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Trebuchet MS"/>
              </a:rPr>
              <a:t>LanguageModel  —  the general-purpose 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8B95A7"/>
                </a:solidFill>
                <a:latin typeface="Calibri"/>
              </a:rPr>
              <a:t>Text in. Text out. Optionally: images and audio in too.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286000"/>
            <a:ext cx="6583680" cy="3840480"/>
          </a:xfrm>
          <a:prstGeom prst="rect">
            <a:avLst/>
          </a:prstGeom>
          <a:solidFill>
            <a:srgbClr val="141A2C"/>
          </a:solidFill>
          <a:ln w="9525">
            <a:solidFill>
              <a:srgbClr val="262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423160"/>
            <a:ext cx="621792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8B95A7"/>
                </a:solidFill>
                <a:latin typeface="Consolas"/>
              </a:rPr>
              <a:t>const session = await </a:t>
            </a:r>
            <a:r>
              <a:rPr sz="1400" b="1" i="0">
                <a:solidFill>
                  <a:srgbClr val="4A9EFF"/>
                </a:solidFill>
                <a:latin typeface="Consolas"/>
              </a:rPr>
              <a:t>LanguageModel</a:t>
            </a:r>
            <a:r>
              <a:rPr sz="1400" b="0" i="0">
                <a:solidFill>
                  <a:srgbClr val="FFFFFF"/>
                </a:solidFill>
                <a:latin typeface="Consolas"/>
              </a:rPr>
              <a:t>.create({</a:t>
            </a:r>
          </a:p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8B95A7"/>
                </a:solidFill>
                <a:latin typeface="Consolas"/>
              </a:rPr>
              <a:t>  expectedInputs: [</a:t>
            </a:r>
          </a:p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8B95A7"/>
                </a:solidFill>
                <a:latin typeface="Consolas"/>
              </a:rPr>
              <a:t>    { type: </a:t>
            </a:r>
            <a:r>
              <a:rPr sz="1400" b="0" i="0">
                <a:solidFill>
                  <a:srgbClr val="4AFFA0"/>
                </a:solidFill>
                <a:latin typeface="Consolas"/>
              </a:rPr>
              <a:t>'text'</a:t>
            </a:r>
            <a:r>
              <a:rPr sz="1400" b="0" i="0">
                <a:solidFill>
                  <a:srgbClr val="8B95A7"/>
                </a:solidFill>
                <a:latin typeface="Consolas"/>
              </a:rPr>
              <a:t> }, { type: </a:t>
            </a:r>
            <a:r>
              <a:rPr sz="1400" b="0" i="0">
                <a:solidFill>
                  <a:srgbClr val="4AFFA0"/>
                </a:solidFill>
                <a:latin typeface="Consolas"/>
              </a:rPr>
              <a:t>'image'</a:t>
            </a:r>
            <a:r>
              <a:rPr sz="1400" b="0" i="0">
                <a:solidFill>
                  <a:srgbClr val="8B95A7"/>
                </a:solidFill>
                <a:latin typeface="Consolas"/>
              </a:rPr>
              <a:t> },</a:t>
            </a:r>
          </a:p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8B95A7"/>
                </a:solidFill>
                <a:latin typeface="Consolas"/>
              </a:rPr>
              <a:t>    { type: </a:t>
            </a:r>
            <a:r>
              <a:rPr sz="1400" b="0" i="0">
                <a:solidFill>
                  <a:srgbClr val="4AFFA0"/>
                </a:solidFill>
                <a:latin typeface="Consolas"/>
              </a:rPr>
              <a:t>'audio'</a:t>
            </a:r>
            <a:r>
              <a:rPr sz="1400" b="0" i="0">
                <a:solidFill>
                  <a:srgbClr val="8B95A7"/>
                </a:solidFill>
                <a:latin typeface="Consolas"/>
              </a:rPr>
              <a:t> },</a:t>
            </a:r>
          </a:p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8B95A7"/>
                </a:solidFill>
                <a:latin typeface="Consolas"/>
              </a:rPr>
              <a:t>  ],</a:t>
            </a:r>
          </a:p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FFFFFF"/>
                </a:solidFill>
                <a:latin typeface="Consolas"/>
              </a:rPr>
              <a:t>});</a:t>
            </a:r>
          </a:p>
          <a:p>
            <a:pPr algn="l">
              <a:lnSpc>
                <a:spcPct val="120000"/>
              </a:lnSpc>
            </a:pPr>
          </a:p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8B95A7"/>
                </a:solidFill>
                <a:latin typeface="Consolas"/>
              </a:rPr>
              <a:t>const reply = await session.prompt([</a:t>
            </a:r>
          </a:p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8B95A7"/>
                </a:solidFill>
                <a:latin typeface="Consolas"/>
              </a:rPr>
              <a:t>  { type: </a:t>
            </a:r>
            <a:r>
              <a:rPr sz="1400" b="0" i="0">
                <a:solidFill>
                  <a:srgbClr val="4AFFA0"/>
                </a:solidFill>
                <a:latin typeface="Consolas"/>
              </a:rPr>
              <a:t>'image'</a:t>
            </a:r>
            <a:r>
              <a:rPr sz="1400" b="0" i="0">
                <a:solidFill>
                  <a:srgbClr val="8B95A7"/>
                </a:solidFill>
                <a:latin typeface="Consolas"/>
              </a:rPr>
              <a:t>, content: photoBlob },</a:t>
            </a:r>
          </a:p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8B95A7"/>
                </a:solidFill>
                <a:latin typeface="Consolas"/>
              </a:rPr>
              <a:t>  { type: </a:t>
            </a:r>
            <a:r>
              <a:rPr sz="1400" b="0" i="0">
                <a:solidFill>
                  <a:srgbClr val="4AFFA0"/>
                </a:solidFill>
                <a:latin typeface="Consolas"/>
              </a:rPr>
              <a:t>'text'</a:t>
            </a:r>
            <a:r>
              <a:rPr sz="1400" b="0" i="0">
                <a:solidFill>
                  <a:srgbClr val="8B95A7"/>
                </a:solidFill>
                <a:latin typeface="Consolas"/>
              </a:rPr>
              <a:t>, content: </a:t>
            </a:r>
            <a:r>
              <a:rPr sz="1400" b="0" i="0">
                <a:solidFill>
                  <a:srgbClr val="FFB84A"/>
                </a:solidFill>
                <a:latin typeface="Consolas"/>
              </a:rPr>
              <a:t>'Is this an ID document?'</a:t>
            </a:r>
            <a:r>
              <a:rPr sz="1400" b="0" i="0">
                <a:solidFill>
                  <a:srgbClr val="8B95A7"/>
                </a:solidFill>
                <a:latin typeface="Consolas"/>
              </a:rPr>
              <a:t> },</a:t>
            </a:r>
          </a:p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FFFFFF"/>
                </a:solidFill>
                <a:latin typeface="Consolas"/>
              </a:rPr>
              <a:t>]);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715000"/>
            <a:ext cx="5943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8B95A7"/>
                </a:solidFill>
                <a:latin typeface="Consolas"/>
              </a:rPr>
              <a:t>// streaming via promptStreaming()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651760"/>
            <a:ext cx="4389120" cy="868680"/>
          </a:xfrm>
          <a:prstGeom prst="rect">
            <a:avLst/>
          </a:prstGeom>
          <a:solidFill>
            <a:srgbClr val="141A2C"/>
          </a:solidFill>
          <a:ln w="9525">
            <a:solidFill>
              <a:srgbClr val="262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0" y="2651760"/>
            <a:ext cx="73152" cy="868680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43800" y="27432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4A9EFF"/>
                </a:solidFill>
                <a:latin typeface="Consolas"/>
              </a:rPr>
              <a:t>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306324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8B95A7"/>
                </a:solidFill>
                <a:latin typeface="Calibri"/>
              </a:rPr>
              <a:t>Anything in tokens.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3657600"/>
            <a:ext cx="4389120" cy="868680"/>
          </a:xfrm>
          <a:prstGeom prst="rect">
            <a:avLst/>
          </a:prstGeom>
          <a:solidFill>
            <a:srgbClr val="141A2C"/>
          </a:solidFill>
          <a:ln w="9525">
            <a:solidFill>
              <a:srgbClr val="262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0" y="3657600"/>
            <a:ext cx="73152" cy="868680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43800" y="37490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4A9EFF"/>
                </a:solidFill>
                <a:latin typeface="Consolas"/>
              </a:rPr>
              <a:t>image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406908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8B95A7"/>
                </a:solidFill>
                <a:latin typeface="Calibri"/>
              </a:rPr>
              <a:t>Classify. Caption. Extract.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0" y="4663440"/>
            <a:ext cx="4389120" cy="868680"/>
          </a:xfrm>
          <a:prstGeom prst="rect">
            <a:avLst/>
          </a:prstGeom>
          <a:solidFill>
            <a:srgbClr val="141A2C"/>
          </a:solidFill>
          <a:ln w="9525">
            <a:solidFill>
              <a:srgbClr val="262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0" y="4663440"/>
            <a:ext cx="73152" cy="868680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43800" y="47548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4A9EFF"/>
                </a:solidFill>
                <a:latin typeface="Consolas"/>
              </a:rPr>
              <a:t>audio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0" y="507492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8B95A7"/>
                </a:solidFill>
                <a:latin typeface="Calibri"/>
              </a:rPr>
              <a:t>Transcribe. Summarize speech.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4A9EFF"/>
                </a:solidFill>
                <a:latin typeface="Consolas"/>
              </a:rPr>
              <a:t>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11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B95A7"/>
                </a:solidFill>
                <a:latin typeface="Calibri"/>
              </a:rPr>
              <a:t>02 / TASK-SPECIFIC APIS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B95A7"/>
                </a:solidFill>
                <a:latin typeface="Consolas"/>
              </a:rPr>
              <a:t>10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550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B95A7"/>
                </a:solidFill>
                <a:latin typeface="Consolas"/>
              </a:rPr>
              <a:t>windowai.danduh.me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Trebuchet MS"/>
              </a:rPr>
              <a:t>Three smaller, faster, opinionated APIs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8B95A7"/>
                </a:solidFill>
                <a:latin typeface="Calibri"/>
              </a:rPr>
              <a:t>Same model under the hood. Different shape. Different defaults. Same zero cost.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148840"/>
            <a:ext cx="11155680" cy="1188720"/>
          </a:xfrm>
          <a:prstGeom prst="rect">
            <a:avLst/>
          </a:prstGeom>
          <a:solidFill>
            <a:srgbClr val="141A2C"/>
          </a:solidFill>
          <a:ln w="9525">
            <a:solidFill>
              <a:srgbClr val="262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148840"/>
            <a:ext cx="109728" cy="1188720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4028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Trebuchet MS"/>
              </a:rPr>
              <a:t>Summarizer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65176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9EFF"/>
                </a:solidFill>
                <a:latin typeface="Consolas"/>
              </a:rPr>
              <a:t>summarize(longText)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953512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8B95A7"/>
                </a:solidFill>
                <a:latin typeface="Calibri"/>
              </a:rPr>
              <a:t>tl;dr a thread, an article, a meeting transcript.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286000"/>
            <a:ext cx="466344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B95A7"/>
                </a:solidFill>
                <a:latin typeface="Consolas"/>
              </a:rPr>
              <a:t>  type: 'tl;dr' | 'key-points'  
  length: 'short' | 'medium' | 'long'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429000"/>
            <a:ext cx="11155680" cy="1188720"/>
          </a:xfrm>
          <a:prstGeom prst="rect">
            <a:avLst/>
          </a:prstGeom>
          <a:solidFill>
            <a:srgbClr val="141A2C"/>
          </a:solidFill>
          <a:ln w="9525">
            <a:solidFill>
              <a:srgbClr val="262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429000"/>
            <a:ext cx="109728" cy="1188720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52044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Trebuchet MS"/>
              </a:rPr>
              <a:t>Translator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93192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9EFF"/>
                </a:solidFill>
                <a:latin typeface="Consolas"/>
              </a:rPr>
              <a:t>translate(text)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233672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8B95A7"/>
                </a:solidFill>
                <a:latin typeface="Calibri"/>
              </a:rPr>
              <a:t>Bidirectional translation between language pairs.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566160"/>
            <a:ext cx="466344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B95A7"/>
                </a:solidFill>
                <a:latin typeface="Consolas"/>
              </a:rPr>
              <a:t>  sourceLanguage: 'en'  
  targetLanguage: 'ja'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709160"/>
            <a:ext cx="11155680" cy="1188720"/>
          </a:xfrm>
          <a:prstGeom prst="rect">
            <a:avLst/>
          </a:prstGeom>
          <a:solidFill>
            <a:srgbClr val="141A2C"/>
          </a:solidFill>
          <a:ln w="9525">
            <a:solidFill>
              <a:srgbClr val="262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4709160"/>
            <a:ext cx="109728" cy="1188720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80060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Trebuchet MS"/>
              </a:rPr>
              <a:t>Language Detector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21208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9EFF"/>
                </a:solidFill>
                <a:latin typeface="Consolas"/>
              </a:rPr>
              <a:t>detect(text)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513832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8B95A7"/>
                </a:solidFill>
                <a:latin typeface="Calibri"/>
              </a:rPr>
              <a:t>What language is this? With confidence scores.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4846320"/>
            <a:ext cx="466344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B95A7"/>
                </a:solidFill>
                <a:latin typeface="Consolas"/>
              </a:rPr>
              <a:t>  → [{ language: 'fr', confidence: 0.92 }, ...]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4A9EFF"/>
                </a:solidFill>
                <a:latin typeface="Consolas"/>
              </a:rPr>
              <a:t>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11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B95A7"/>
                </a:solidFill>
                <a:latin typeface="Calibri"/>
              </a:rPr>
              <a:t>02 / WRITER FAMILY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B95A7"/>
                </a:solidFill>
                <a:latin typeface="Consolas"/>
              </a:rPr>
              <a:t>11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550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B95A7"/>
                </a:solidFill>
                <a:latin typeface="Consolas"/>
              </a:rPr>
              <a:t>windowai.danduh.me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Trebuchet MS"/>
              </a:rPr>
              <a:t>Writer  ·  Rewriter  ·  Proofreader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459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8B95A7"/>
                </a:solidFill>
                <a:latin typeface="Calibri"/>
              </a:rPr>
              <a:t>Content generation and editing — opinionated wrappers tuned for the job.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468880"/>
            <a:ext cx="3611880" cy="3657600"/>
          </a:xfrm>
          <a:prstGeom prst="rect">
            <a:avLst/>
          </a:prstGeom>
          <a:solidFill>
            <a:srgbClr val="141A2C"/>
          </a:solidFill>
          <a:ln w="9525">
            <a:solidFill>
              <a:srgbClr val="262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468880"/>
            <a:ext cx="3611880" cy="73152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651760"/>
            <a:ext cx="3611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Trebuchet MS"/>
              </a:rPr>
              <a:t>Writer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200400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8B95A7"/>
                </a:solidFill>
                <a:latin typeface="Calibri"/>
              </a:rPr>
              <a:t>Generate new text from scratch.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023360"/>
            <a:ext cx="297180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9EFF"/>
                </a:solidFill>
                <a:latin typeface="Consolas"/>
              </a:rPr>
              <a:t>tone: 'formal' | 'neutral' | 'casual'
format: 'plain-text' | 'markdown'
length: 'short' | 'medium' | 'long'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2468880"/>
            <a:ext cx="3611880" cy="3657600"/>
          </a:xfrm>
          <a:prstGeom prst="rect">
            <a:avLst/>
          </a:prstGeom>
          <a:solidFill>
            <a:srgbClr val="141A2C"/>
          </a:solidFill>
          <a:ln w="9525">
            <a:solidFill>
              <a:srgbClr val="262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2468880"/>
            <a:ext cx="3611880" cy="73152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2651760"/>
            <a:ext cx="3611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Trebuchet MS"/>
              </a:rPr>
              <a:t>Rewriter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200400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8B95A7"/>
                </a:solidFill>
                <a:latin typeface="Calibri"/>
              </a:rPr>
              <a:t>Same meaning, different shape.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4023360"/>
            <a:ext cx="297180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9EFF"/>
                </a:solidFill>
                <a:latin typeface="Consolas"/>
              </a:rPr>
              <a:t>tone: 'more-formal' | 'as-is' | 'more-casual'
length: 'shorter' | 'longer'
format: 'plain-text' | 'markdown'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92440" y="2468880"/>
            <a:ext cx="3611880" cy="3657600"/>
          </a:xfrm>
          <a:prstGeom prst="rect">
            <a:avLst/>
          </a:prstGeom>
          <a:solidFill>
            <a:srgbClr val="141A2C"/>
          </a:solidFill>
          <a:ln w="9525">
            <a:solidFill>
              <a:srgbClr val="262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92440" y="2468880"/>
            <a:ext cx="3611880" cy="73152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2651760"/>
            <a:ext cx="3611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Trebuchet MS"/>
              </a:rPr>
              <a:t>Proofreader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3200400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8B95A7"/>
                </a:solidFill>
                <a:latin typeface="Calibri"/>
              </a:rPr>
              <a:t>Grammar, spelling, surface fixes.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4023360"/>
            <a:ext cx="297180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9EFF"/>
                </a:solidFill>
                <a:latin typeface="Consolas"/>
              </a:rPr>
              <a:t>→ [{ correction, range, type }]
   type: 'spelling' | 'grammar' | 'style'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4A9EFF"/>
                </a:solidFill>
                <a:latin typeface="Consolas"/>
              </a:rPr>
              <a:t>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11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B95A7"/>
                </a:solidFill>
                <a:latin typeface="Calibri"/>
              </a:rPr>
              <a:t>02 / AVAILABILITY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B95A7"/>
                </a:solidFill>
                <a:latin typeface="Consolas"/>
              </a:rPr>
              <a:t>12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550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B95A7"/>
                </a:solidFill>
                <a:latin typeface="Consolas"/>
              </a:rPr>
              <a:t>windowai.danduh.me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Trebuchet MS"/>
              </a:rPr>
              <a:t>Before you can call it, you must ask: can I?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002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8B95A7"/>
                </a:solidFill>
                <a:latin typeface="Calibri"/>
              </a:rPr>
              <a:t>Every API exposes the same state machine. Build your UX around it, not around 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377440"/>
            <a:ext cx="2743200" cy="3200400"/>
          </a:xfrm>
          <a:prstGeom prst="rect">
            <a:avLst/>
          </a:prstGeom>
          <a:solidFill>
            <a:srgbClr val="141A2C"/>
          </a:solidFill>
          <a:ln w="9525">
            <a:solidFill>
              <a:srgbClr val="262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377440"/>
            <a:ext cx="2743200" cy="457200"/>
          </a:xfrm>
          <a:prstGeom prst="rect">
            <a:avLst/>
          </a:prstGeom>
          <a:solidFill>
            <a:srgbClr val="FFB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3774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0A0E1A"/>
                </a:solidFill>
                <a:latin typeface="Consolas"/>
              </a:rPr>
              <a:t>unavailable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63240"/>
            <a:ext cx="22860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Hardware or flag isn't there.
Show a fallback. Move 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2377440"/>
            <a:ext cx="2743200" cy="3200400"/>
          </a:xfrm>
          <a:prstGeom prst="rect">
            <a:avLst/>
          </a:prstGeom>
          <a:solidFill>
            <a:srgbClr val="141A2C"/>
          </a:solidFill>
          <a:ln w="9525">
            <a:solidFill>
              <a:srgbClr val="262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83280" y="2377440"/>
            <a:ext cx="2743200" cy="457200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23774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0A0E1A"/>
                </a:solidFill>
                <a:latin typeface="Consolas"/>
              </a:rPr>
              <a:t>downloadable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3063240"/>
            <a:ext cx="22860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Model exists but not yet on disk.
Trigger download with consent.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2377440"/>
            <a:ext cx="2743200" cy="3200400"/>
          </a:xfrm>
          <a:prstGeom prst="rect">
            <a:avLst/>
          </a:prstGeom>
          <a:solidFill>
            <a:srgbClr val="141A2C"/>
          </a:solidFill>
          <a:ln w="9525">
            <a:solidFill>
              <a:srgbClr val="262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2377440"/>
            <a:ext cx="2743200" cy="457200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23774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0A0E1A"/>
                </a:solidFill>
                <a:latin typeface="Consolas"/>
              </a:rPr>
              <a:t>downloading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063240"/>
            <a:ext cx="22860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In progress.
Wire a progress event into the UI.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2377440"/>
            <a:ext cx="2743200" cy="3200400"/>
          </a:xfrm>
          <a:prstGeom prst="rect">
            <a:avLst/>
          </a:prstGeom>
          <a:solidFill>
            <a:srgbClr val="141A2C"/>
          </a:solidFill>
          <a:ln w="9525">
            <a:solidFill>
              <a:srgbClr val="262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0" y="2377440"/>
            <a:ext cx="2743200" cy="457200"/>
          </a:xfrm>
          <a:prstGeom prst="rect">
            <a:avLst/>
          </a:prstGeom>
          <a:solidFill>
            <a:srgbClr val="4AF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0" y="23774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0A0E1A"/>
                </a:solidFill>
                <a:latin typeface="Consolas"/>
              </a:rPr>
              <a:t>available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3063240"/>
            <a:ext cx="22860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Ready. Call create() immediately.
This is the happy path.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852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4A9EFF"/>
                </a:solidFill>
                <a:latin typeface="Consolas"/>
              </a:rPr>
              <a:t>const status = await Summarizer.availability();   // → 'available' | 'downloadable' | ...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737360"/>
            <a:ext cx="32004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0" b="1" i="0">
                <a:solidFill>
                  <a:srgbClr val="2C5F9E"/>
                </a:solidFill>
                <a:latin typeface="Trebuchet MS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4023360" y="2651760"/>
            <a:ext cx="54864" cy="2011680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0" y="2651760"/>
            <a:ext cx="758952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Trebuchet MS"/>
              </a:rPr>
              <a:t>LIVE DEMOS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4297680"/>
            <a:ext cx="75895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8B95A7"/>
                </a:solidFill>
                <a:latin typeface="Calibri"/>
              </a:rPr>
              <a:t>Slides off. Browser on. Things that used to be backend, now aren't.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4A9EFF"/>
                </a:solidFill>
                <a:latin typeface="Consolas"/>
              </a:rPr>
              <a:t>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11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B95A7"/>
                </a:solidFill>
                <a:latin typeface="Calibri"/>
              </a:rPr>
              <a:t>03 / DEMO — 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B95A7"/>
                </a:solidFill>
                <a:latin typeface="Consolas"/>
              </a:rPr>
              <a:t>14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550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B95A7"/>
                </a:solidFill>
                <a:latin typeface="Consolas"/>
              </a:rPr>
              <a:t>windowai.danduh.me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Trebuchet MS"/>
              </a:rPr>
              <a:t>Classify an uploaded ID photo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002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8B95A7"/>
                </a:solidFill>
                <a:latin typeface="Calibri"/>
              </a:rPr>
              <a:t>Drag a passport. Drag a coffee cup. Drag a screenshot. Same code path, all locally.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468880"/>
            <a:ext cx="2011680" cy="640080"/>
          </a:xfrm>
          <a:prstGeom prst="roundRect">
            <a:avLst>
              <a:gd name="adj" fmla="val 8000"/>
            </a:avLst>
          </a:prstGeom>
          <a:solidFill>
            <a:srgbClr val="FFB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46888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0A0E1A"/>
                </a:solidFill>
                <a:latin typeface="Consolas"/>
              </a:rPr>
              <a:t>● LIVE 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4747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Trebuchet MS"/>
              </a:rPr>
              <a:t>▸  Prompt API, multimodal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931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4A9EFF"/>
                </a:solidFill>
                <a:latin typeface="Consolas"/>
              </a:rPr>
              <a:t>expectedInputs: ['text', 'image']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389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Trebuchet MS"/>
              </a:rPr>
              <a:t>▸  Structured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846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4A9EFF"/>
                </a:solidFill>
                <a:latin typeface="Consolas"/>
              </a:rPr>
              <a:t>responseConstraint with JSON Schema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3035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Trebuchet MS"/>
              </a:rPr>
              <a:t>▸  Zero network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760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4A9EFF"/>
                </a:solidFill>
                <a:latin typeface="Consolas"/>
              </a:rPr>
              <a:t>Network tab during the demo: empty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4A9EFF"/>
                </a:solidFill>
                <a:latin typeface="Consolas"/>
              </a:rPr>
              <a:t>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11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B95A7"/>
                </a:solidFill>
                <a:latin typeface="Calibri"/>
              </a:rPr>
              <a:t>03 / DEMO — WRITER + REWRITER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B95A7"/>
                </a:solidFill>
                <a:latin typeface="Consolas"/>
              </a:rPr>
              <a:t>15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550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B95A7"/>
                </a:solidFill>
                <a:latin typeface="Consolas"/>
              </a:rPr>
              <a:t>windowai.danduh.me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Trebuchet MS"/>
              </a:rPr>
              <a:t>Draft a reply in the user's own 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002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8B95A7"/>
                </a:solidFill>
                <a:latin typeface="Calibri"/>
              </a:rPr>
              <a:t>Feed the user's past messages as context. Generate. Rewrite to match.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468880"/>
            <a:ext cx="5394960" cy="3291840"/>
          </a:xfrm>
          <a:prstGeom prst="rect">
            <a:avLst/>
          </a:prstGeom>
          <a:solidFill>
            <a:srgbClr val="141A2C"/>
          </a:solidFill>
          <a:ln w="9525">
            <a:solidFill>
              <a:srgbClr val="262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0604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8B95A7"/>
                </a:solidFill>
                <a:latin typeface="Consolas"/>
              </a:rPr>
              <a:t>INCOMING MESSAGE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01752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FFFFFF"/>
                </a:solidFill>
                <a:latin typeface="Calibri"/>
              </a:rPr>
              <a:t>"Hey — quick one. Can we push the demo cut by a week? We just got the partner data and it changes the framing."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2468880"/>
            <a:ext cx="5394960" cy="3291840"/>
          </a:xfrm>
          <a:prstGeom prst="rect">
            <a:avLst/>
          </a:prstGeom>
          <a:solidFill>
            <a:srgbClr val="141A2C"/>
          </a:solidFill>
          <a:ln w="9525">
            <a:solidFill>
              <a:srgbClr val="262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2468880"/>
            <a:ext cx="5394960" cy="73152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60604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4A9EFF"/>
                </a:solidFill>
                <a:latin typeface="Consolas"/>
              </a:rPr>
              <a:t>DRAFTED REPLY (in your tone)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01752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"yeah, no problem — push it. send me the partner data when you have a sec and i'll re-shape the framing on my end. ttyl."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92640" y="1005840"/>
            <a:ext cx="2011680" cy="548640"/>
          </a:xfrm>
          <a:prstGeom prst="roundRect">
            <a:avLst>
              <a:gd name="adj" fmla="val 8000"/>
            </a:avLst>
          </a:prstGeom>
          <a:solidFill>
            <a:srgbClr val="FFB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0" y="100584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0A0E1A"/>
                </a:solidFill>
                <a:latin typeface="Consolas"/>
              </a:rPr>
              <a:t>● LIVE DEMO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737360"/>
            <a:ext cx="32004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0" b="1" i="0">
                <a:solidFill>
                  <a:srgbClr val="2C5F9E"/>
                </a:solidFill>
                <a:latin typeface="Trebuchet MS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4023360" y="2651760"/>
            <a:ext cx="54864" cy="2011680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0" y="2651760"/>
            <a:ext cx="758952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Trebuchet MS"/>
              </a:rPr>
              <a:t>THE SECOND TWIST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4297680"/>
            <a:ext cx="75895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8B95A7"/>
                </a:solidFill>
                <a:latin typeface="Calibri"/>
              </a:rPr>
              <a:t>Pages can now expose typed actions. The agent on the other side might not be yours.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4A9EFF"/>
                </a:solidFill>
                <a:latin typeface="Consolas"/>
              </a:rPr>
              <a:t>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11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B95A7"/>
                </a:solidFill>
                <a:latin typeface="Calibri"/>
              </a:rPr>
              <a:t>04 / NAVIGATOR.MODELCONTEXT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B95A7"/>
                </a:solidFill>
                <a:latin typeface="Consolas"/>
              </a:rPr>
              <a:t>17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550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B95A7"/>
                </a:solidFill>
                <a:latin typeface="Consolas"/>
              </a:rPr>
              <a:t>windowai.danduh.me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Trebuchet MS"/>
              </a:rPr>
              <a:t>WebMCP — typed actions, exposed by the page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459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8B95A7"/>
                </a:solidFill>
                <a:latin typeface="Consolas"/>
              </a:rPr>
              <a:t>Chrome 146 Canary — navigator.modelContext.registerTool(...)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377440"/>
            <a:ext cx="11155680" cy="2468880"/>
          </a:xfrm>
          <a:prstGeom prst="rect">
            <a:avLst/>
          </a:prstGeom>
          <a:solidFill>
            <a:srgbClr val="141A2C"/>
          </a:solidFill>
          <a:ln w="9525">
            <a:solidFill>
              <a:srgbClr val="262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06040"/>
            <a:ext cx="105156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4A9EFF"/>
                </a:solidFill>
                <a:latin typeface="Consolas"/>
              </a:rPr>
              <a:t>navigator.modelContext</a:t>
            </a:r>
            <a:r>
              <a:rPr sz="1800" b="0" i="0">
                <a:solidFill>
                  <a:srgbClr val="FFFFFF"/>
                </a:solidFill>
                <a:latin typeface="Consolas"/>
              </a:rPr>
              <a:t>.registerTool({</a:t>
            </a:r>
          </a:p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8B95A7"/>
                </a:solidFill>
                <a:latin typeface="Consolas"/>
              </a:rPr>
              <a:t>  name: </a:t>
            </a:r>
            <a:r>
              <a:rPr sz="1800" b="0" i="0">
                <a:solidFill>
                  <a:srgbClr val="4AFFA0"/>
                </a:solidFill>
                <a:latin typeface="Consolas"/>
              </a:rPr>
              <a:t>'addToCart'</a:t>
            </a:r>
            <a:r>
              <a:rPr sz="1800" b="0" i="0">
                <a:solidFill>
                  <a:srgbClr val="8B95A7"/>
                </a:solidFill>
                <a:latin typeface="Consolas"/>
              </a:rPr>
              <a:t>,</a:t>
            </a:r>
          </a:p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8B95A7"/>
                </a:solidFill>
                <a:latin typeface="Consolas"/>
              </a:rPr>
              <a:t>  description: </a:t>
            </a:r>
            <a:r>
              <a:rPr sz="1800" b="0" i="0">
                <a:solidFill>
                  <a:srgbClr val="4AFFA0"/>
                </a:solidFill>
                <a:latin typeface="Consolas"/>
              </a:rPr>
              <a:t>'Add a product to the current cart'</a:t>
            </a:r>
            <a:r>
              <a:rPr sz="1800" b="0" i="0">
                <a:solidFill>
                  <a:srgbClr val="8B95A7"/>
                </a:solidFill>
                <a:latin typeface="Consolas"/>
              </a:rPr>
              <a:t>,</a:t>
            </a:r>
          </a:p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8B95A7"/>
                </a:solidFill>
                <a:latin typeface="Consolas"/>
              </a:rPr>
              <a:t>  inputSchema: { type: 'object', properties: { sku: { type: 'string' } } },</a:t>
            </a:r>
          </a:p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8B95A7"/>
                </a:solidFill>
                <a:latin typeface="Consolas"/>
              </a:rPr>
              <a:t>  async execute({ sku }) { return cart.add(sku); },</a:t>
            </a:r>
          </a:p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FFFFFF"/>
                </a:solidFill>
                <a:latin typeface="Consolas"/>
              </a:rPr>
              <a:t>});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2120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1">
                <a:solidFill>
                  <a:srgbClr val="FFFFFF"/>
                </a:solidFill>
                <a:latin typeface="Trebuchet MS"/>
              </a:rPr>
              <a:t>Same tool. Two consumers.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5532120"/>
            <a:ext cx="3474720" cy="594360"/>
          </a:xfrm>
          <a:prstGeom prst="roundRect">
            <a:avLst>
              <a:gd name="adj" fmla="val 8000"/>
            </a:avLst>
          </a:prstGeom>
          <a:solidFill>
            <a:srgbClr val="141A2C"/>
          </a:solidFill>
          <a:ln w="19050">
            <a:solidFill>
              <a:srgbClr val="4A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0" y="5532120"/>
            <a:ext cx="34747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4A9EFF"/>
                </a:solidFill>
                <a:latin typeface="Consolas"/>
              </a:rPr>
              <a:t>YOUR OWN CHATBOT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5532120"/>
            <a:ext cx="3474720" cy="594360"/>
          </a:xfrm>
          <a:prstGeom prst="roundRect">
            <a:avLst>
              <a:gd name="adj" fmla="val 8000"/>
            </a:avLst>
          </a:prstGeom>
          <a:solidFill>
            <a:srgbClr val="141A2C"/>
          </a:solidFill>
          <a:ln w="19050">
            <a:solidFill>
              <a:srgbClr val="4A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5532120"/>
            <a:ext cx="34747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4A9EFF"/>
                </a:solidFill>
                <a:latin typeface="Consolas"/>
              </a:rPr>
              <a:t>SOMEONE ELSE'S AGENT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4A9EFF"/>
                </a:solidFill>
                <a:latin typeface="Consolas"/>
              </a:rPr>
              <a:t>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11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B95A7"/>
                </a:solidFill>
                <a:latin typeface="Calibri"/>
              </a:rPr>
              <a:t>04 / THE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B95A7"/>
                </a:solidFill>
                <a:latin typeface="Consolas"/>
              </a:rPr>
              <a:t>18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550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B95A7"/>
                </a:solidFill>
                <a:latin typeface="Consolas"/>
              </a:rPr>
              <a:t>windowai.danduh.me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Trebuchet MS"/>
              </a:rPr>
              <a:t>The tool returns UI.  The UI registers more tools.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002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8B95A7"/>
                </a:solidFill>
                <a:latin typeface="Calibri"/>
              </a:rPr>
              <a:t>MCP Apps + WebMCP — generative UI inside the agent's own chat.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651760"/>
            <a:ext cx="2697480" cy="2011680"/>
          </a:xfrm>
          <a:prstGeom prst="rect">
            <a:avLst/>
          </a:prstGeom>
          <a:solidFill>
            <a:srgbClr val="141A2C"/>
          </a:solidFill>
          <a:ln w="9525">
            <a:solidFill>
              <a:srgbClr val="262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788920"/>
            <a:ext cx="2697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4A9EFF"/>
                </a:solidFill>
                <a:latin typeface="Trebuchet M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520440"/>
            <a:ext cx="2331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nsolas"/>
              </a:rPr>
              <a:t>AGENT CALLS
searchRecipes()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2651760"/>
            <a:ext cx="2697480" cy="2011680"/>
          </a:xfrm>
          <a:prstGeom prst="rect">
            <a:avLst/>
          </a:prstGeom>
          <a:solidFill>
            <a:srgbClr val="141A2C"/>
          </a:solidFill>
          <a:ln w="9525">
            <a:solidFill>
              <a:srgbClr val="262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2788920"/>
            <a:ext cx="2697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4A9EFF"/>
                </a:solidFill>
                <a:latin typeface="Trebuchet M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3520440"/>
            <a:ext cx="2331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nsolas"/>
              </a:rPr>
              <a:t>TOOL RETURNS
UI resource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651760"/>
            <a:ext cx="2697480" cy="2011680"/>
          </a:xfrm>
          <a:prstGeom prst="rect">
            <a:avLst/>
          </a:prstGeom>
          <a:solidFill>
            <a:srgbClr val="141A2C"/>
          </a:solidFill>
          <a:ln w="9525">
            <a:solidFill>
              <a:srgbClr val="262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2788920"/>
            <a:ext cx="2697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4A9EFF"/>
                </a:solidFill>
                <a:latin typeface="Trebuchet M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3520440"/>
            <a:ext cx="2331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nsolas"/>
              </a:rPr>
              <a:t>IFRAME RENDERS
inside chat bubble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06840" y="2651760"/>
            <a:ext cx="2697480" cy="2011680"/>
          </a:xfrm>
          <a:prstGeom prst="rect">
            <a:avLst/>
          </a:prstGeom>
          <a:solidFill>
            <a:srgbClr val="141A2C"/>
          </a:solidFill>
          <a:ln w="9525">
            <a:solidFill>
              <a:srgbClr val="262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06840" y="2788920"/>
            <a:ext cx="2697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4A9EFF"/>
                </a:solidFill>
                <a:latin typeface="Trebuchet M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3520440"/>
            <a:ext cx="2331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nsolas"/>
              </a:rPr>
              <a:t>IFRAME REGISTERS
commitRecipe()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200400" y="3657600"/>
            <a:ext cx="137160" cy="0"/>
          </a:xfrm>
          <a:prstGeom prst="line">
            <a:avLst/>
          </a:prstGeom>
          <a:ln w="25400">
            <a:solidFill>
              <a:srgbClr val="4A9EF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035040" y="3657600"/>
            <a:ext cx="137160" cy="0"/>
          </a:xfrm>
          <a:prstGeom prst="line">
            <a:avLst/>
          </a:prstGeom>
          <a:ln w="25400">
            <a:solidFill>
              <a:srgbClr val="4A9EF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869680" y="3657600"/>
            <a:ext cx="137160" cy="0"/>
          </a:xfrm>
          <a:prstGeom prst="line">
            <a:avLst/>
          </a:prstGeom>
          <a:ln w="25400">
            <a:solidFill>
              <a:srgbClr val="4A9EF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332720" y="4663440"/>
            <a:ext cx="0" cy="502920"/>
          </a:xfrm>
          <a:prstGeom prst="line">
            <a:avLst/>
          </a:prstGeom>
          <a:ln w="25400">
            <a:solidFill>
              <a:srgbClr val="FF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1828800" y="5166360"/>
            <a:ext cx="8503920" cy="0"/>
          </a:xfrm>
          <a:prstGeom prst="line">
            <a:avLst/>
          </a:prstGeom>
          <a:ln w="25400">
            <a:solidFill>
              <a:srgbClr val="FF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828800" y="4709160"/>
            <a:ext cx="0" cy="457200"/>
          </a:xfrm>
          <a:prstGeom prst="line">
            <a:avLst/>
          </a:prstGeom>
          <a:ln w="25400">
            <a:solidFill>
              <a:srgbClr val="FFB84A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02920" y="5349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B84A"/>
                </a:solidFill>
                <a:latin typeface="Consolas"/>
              </a:rPr>
              <a:t>AND THEN THE AGENT CALLS THE NEW TOOL.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943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1">
                <a:solidFill>
                  <a:srgbClr val="4AFFA0"/>
                </a:solidFill>
                <a:latin typeface="Calibri"/>
              </a:rPr>
              <a:t>Zero DOM scraping. Zero backend.  The page and the agent are bidirectional peers now.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4A9EFF"/>
                </a:solidFill>
                <a:latin typeface="Consolas"/>
              </a:rPr>
              <a:t>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11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B95A7"/>
                </a:solidFill>
                <a:latin typeface="Calibri"/>
              </a:rPr>
              <a:t>04 / DEMO — RECIPE WORKBENCH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B95A7"/>
                </a:solidFill>
                <a:latin typeface="Consolas"/>
              </a:rPr>
              <a:t>19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550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B95A7"/>
                </a:solidFill>
                <a:latin typeface="Consolas"/>
              </a:rPr>
              <a:t>windowai.danduh.me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Trebuchet MS"/>
              </a:rPr>
              <a:t>The Recipe Workbench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4A9EFF"/>
                </a:solidFill>
                <a:latin typeface="Consolas"/>
              </a:rPr>
              <a:t>"Find me a 30-minute chicken recipe and add it to tonight's plan."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468880"/>
            <a:ext cx="2011680" cy="640080"/>
          </a:xfrm>
          <a:prstGeom prst="roundRect">
            <a:avLst>
              <a:gd name="adj" fmla="val 8000"/>
            </a:avLst>
          </a:prstGeom>
          <a:solidFill>
            <a:srgbClr val="FFB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46888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0A0E1A"/>
                </a:solidFill>
                <a:latin typeface="Consolas"/>
              </a:rPr>
              <a:t>● LIVE 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3832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8B95A7"/>
                </a:solidFill>
                <a:latin typeface="Consolas"/>
              </a:rPr>
              <a:t>WATCH FOR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703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Trebuchet MS"/>
              </a:rPr>
              <a:t>▸ Recipe cards render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05079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8B95A7"/>
                </a:solidFill>
                <a:latin typeface="Calibri"/>
              </a:rPr>
              <a:t>as an iframe inside the chat bubble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2519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Trebuchet MS"/>
              </a:rPr>
              <a:t>▸ Clicking 'Pick' on a card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59943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8B95A7"/>
                </a:solidFill>
                <a:latin typeface="Calibri"/>
              </a:rPr>
              <a:t>registers a brand-new tool back to the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800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Trebuchet MS"/>
              </a:rPr>
              <a:t>▸ Agent discovers it mid-turn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14807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8B95A7"/>
                </a:solidFill>
                <a:latin typeface="Calibri"/>
              </a:rPr>
              <a:t>and commits the recipe to the plan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349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Trebuchet MS"/>
              </a:rPr>
              <a:t>▸ Network tab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69671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8B95A7"/>
                </a:solidFill>
                <a:latin typeface="Calibri"/>
              </a:rPr>
              <a:t>stays empty the whole time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4A9EFF"/>
                </a:solidFill>
                <a:latin typeface="Consolas"/>
              </a:rPr>
              <a:t>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11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B95A7"/>
                </a:solidFill>
                <a:latin typeface="Calibri"/>
              </a:rPr>
              <a:t>04 / THE PRODUCT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B95A7"/>
                </a:solidFill>
                <a:latin typeface="Consolas"/>
              </a:rPr>
              <a:t>20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550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B95A7"/>
                </a:solidFill>
                <a:latin typeface="Consolas"/>
              </a:rPr>
              <a:t>windowai.danduh.me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459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1">
                <a:solidFill>
                  <a:srgbClr val="8B95A7"/>
                </a:solidFill>
                <a:latin typeface="Trebuchet MS"/>
              </a:rPr>
              <a:t>If your competitor's site can be driven by an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3317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1">
                <a:solidFill>
                  <a:srgbClr val="8B95A7"/>
                </a:solidFill>
                <a:latin typeface="Trebuchet MS"/>
              </a:rPr>
              <a:t>and yours can't,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918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Trebuchet MS"/>
              </a:rPr>
              <a:t>"Is our product reachable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1148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4A9EFF"/>
                </a:solidFill>
                <a:latin typeface="Trebuchet MS"/>
              </a:rPr>
              <a:t>by AI agents?"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166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8B95A7"/>
                </a:solidFill>
                <a:latin typeface="Trebuchet MS"/>
              </a:rPr>
              <a:t>becomes a real product question.  Not a 2027 problem.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852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FFB84A"/>
                </a:solidFill>
                <a:latin typeface="Calibri"/>
              </a:rPr>
              <a:t>Discoverability used to be SEO. Now it's also tool design.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4A9EFF"/>
                </a:solidFill>
                <a:latin typeface="Consolas"/>
              </a:rPr>
              <a:t>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11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B95A7"/>
                </a:solidFill>
                <a:latin typeface="Calibri"/>
              </a:rPr>
              <a:t>05 / HONEST LIMITS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B95A7"/>
                </a:solidFill>
                <a:latin typeface="Consolas"/>
              </a:rPr>
              <a:t>21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550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B95A7"/>
                </a:solidFill>
                <a:latin typeface="Consolas"/>
              </a:rPr>
              <a:t>windowai.danduh.me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Trebuchet MS"/>
              </a:rPr>
              <a:t>What's still hard, what's still missing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002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8B95A7"/>
                </a:solidFill>
                <a:latin typeface="Calibri"/>
              </a:rPr>
              <a:t>If I leave anything out here, you'll find out the painful way. So: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468880"/>
            <a:ext cx="5440680" cy="1828800"/>
          </a:xfrm>
          <a:prstGeom prst="rect">
            <a:avLst/>
          </a:prstGeom>
          <a:solidFill>
            <a:srgbClr val="141A2C"/>
          </a:solidFill>
          <a:ln w="9525">
            <a:solidFill>
              <a:srgbClr val="262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468880"/>
            <a:ext cx="109728" cy="1828800"/>
          </a:xfrm>
          <a:prstGeom prst="rect">
            <a:avLst/>
          </a:prstGeom>
          <a:solidFill>
            <a:srgbClr val="FFB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606040"/>
            <a:ext cx="4983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Trebuchet MS"/>
              </a:rPr>
              <a:t>Chrome-first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063240"/>
            <a:ext cx="4983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8B95A7"/>
                </a:solidFill>
                <a:latin typeface="Calibri"/>
              </a:rPr>
              <a:t>Other browsers will get there. Today, plan a fallback.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749040"/>
            <a:ext cx="4983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9EFF"/>
                </a:solidFill>
                <a:latin typeface="Consolas"/>
              </a:rPr>
              <a:t>Banner-and-degrade if `window.LanguageModel` is undefined.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468880"/>
            <a:ext cx="5440680" cy="1828800"/>
          </a:xfrm>
          <a:prstGeom prst="rect">
            <a:avLst/>
          </a:prstGeom>
          <a:solidFill>
            <a:srgbClr val="141A2C"/>
          </a:solidFill>
          <a:ln w="9525">
            <a:solidFill>
              <a:srgbClr val="262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2468880"/>
            <a:ext cx="109728" cy="1828800"/>
          </a:xfrm>
          <a:prstGeom prst="rect">
            <a:avLst/>
          </a:prstGeom>
          <a:solidFill>
            <a:srgbClr val="FFB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606040"/>
            <a:ext cx="4983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Trebuchet MS"/>
              </a:rPr>
              <a:t>Small ≠ Frontier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063240"/>
            <a:ext cx="4983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8B95A7"/>
                </a:solidFill>
                <a:latin typeface="Calibri"/>
              </a:rPr>
              <a:t>Pick the right job: classify, summarize, translate — yes. Novel multi-step reasoning — be careful.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749040"/>
            <a:ext cx="4983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9EFF"/>
                </a:solidFill>
                <a:latin typeface="Consolas"/>
              </a:rPr>
              <a:t>Tool calling on Gemini Nano is flaky for multi-step loops.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434840"/>
            <a:ext cx="5440680" cy="1828800"/>
          </a:xfrm>
          <a:prstGeom prst="rect">
            <a:avLst/>
          </a:prstGeom>
          <a:solidFill>
            <a:srgbClr val="141A2C"/>
          </a:solidFill>
          <a:ln w="9525">
            <a:solidFill>
              <a:srgbClr val="262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4434840"/>
            <a:ext cx="109728" cy="1828800"/>
          </a:xfrm>
          <a:prstGeom prst="rect">
            <a:avLst/>
          </a:prstGeom>
          <a:solidFill>
            <a:srgbClr val="FFB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572000"/>
            <a:ext cx="4983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Trebuchet MS"/>
              </a:rPr>
              <a:t>Model download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029200"/>
            <a:ext cx="4983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8B95A7"/>
                </a:solidFill>
                <a:latin typeface="Calibri"/>
              </a:rPr>
              <a:t>First-use is 1-4 GB on disk. Trigger with consent.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715000"/>
            <a:ext cx="4983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9EFF"/>
                </a:solidFill>
                <a:latin typeface="Consolas"/>
              </a:rPr>
              <a:t>Wire the 'downloading' state into actual UI, don't hide it.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4434840"/>
            <a:ext cx="5440680" cy="1828800"/>
          </a:xfrm>
          <a:prstGeom prst="rect">
            <a:avLst/>
          </a:prstGeom>
          <a:solidFill>
            <a:srgbClr val="141A2C"/>
          </a:solidFill>
          <a:ln w="9525">
            <a:solidFill>
              <a:srgbClr val="262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4434840"/>
            <a:ext cx="109728" cy="1828800"/>
          </a:xfrm>
          <a:prstGeom prst="rect">
            <a:avLst/>
          </a:prstGeom>
          <a:solidFill>
            <a:srgbClr val="FFB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4572000"/>
            <a:ext cx="4983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Trebuchet MS"/>
              </a:rPr>
              <a:t>Context limits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5029200"/>
            <a:ext cx="4983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8B95A7"/>
                </a:solidFill>
                <a:latin typeface="Calibri"/>
              </a:rPr>
              <a:t>~4K in / 1K out for the small model. Chunk and stream.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5715000"/>
            <a:ext cx="4983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9EFF"/>
                </a:solidFill>
                <a:latin typeface="Consolas"/>
              </a:rPr>
              <a:t>Treat long inputs the same way you'd treat a slow disk.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4A9EFF"/>
                </a:solidFill>
                <a:latin typeface="Consolas"/>
              </a:rPr>
              <a:t>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11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B95A7"/>
                </a:solidFill>
                <a:latin typeface="Consolas"/>
              </a:rPr>
              <a:t>FIN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112471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Trebuchet MS"/>
              </a:rPr>
              <a:t>The web platform just absorbed AI.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889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8B95A7"/>
                </a:solidFill>
                <a:latin typeface="Trebuchet MS"/>
              </a:rPr>
              <a:t>The interesting question is what you'll build on top.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840480"/>
            <a:ext cx="11155680" cy="2286000"/>
          </a:xfrm>
          <a:prstGeom prst="rect">
            <a:avLst/>
          </a:prstGeom>
          <a:solidFill>
            <a:srgbClr val="141A2C"/>
          </a:solidFill>
          <a:ln w="9525">
            <a:solidFill>
              <a:srgbClr val="262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977639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4A9EFF"/>
                </a:solidFill>
                <a:latin typeface="Consolas"/>
              </a:rPr>
              <a:t>RESOURCES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3891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4A9EFF"/>
                </a:solidFill>
                <a:latin typeface="Consolas"/>
              </a:rPr>
              <a:t>windowai.danduh.me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438912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8B95A7"/>
                </a:solidFill>
                <a:latin typeface="Calibri"/>
              </a:rPr>
              <a:t>demos for everything in this deck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006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4A9EFF"/>
                </a:solidFill>
                <a:latin typeface="Consolas"/>
              </a:rPr>
              <a:t>developer.chrome.com/docs/ai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480060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8B95A7"/>
                </a:solidFill>
                <a:latin typeface="Calibri"/>
              </a:rPr>
              <a:t>Prompt API, Summarizer, Translator, etc.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2120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4A9EFF"/>
                </a:solidFill>
                <a:latin typeface="Consolas"/>
              </a:rPr>
              <a:t>modelcontextprotocol.io/extensions/apps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521208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8B95A7"/>
                </a:solidFill>
                <a:latin typeface="Calibri"/>
              </a:rPr>
              <a:t>MCP Apps — generative UI spec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6235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4A9EFF"/>
                </a:solidFill>
                <a:latin typeface="Consolas"/>
              </a:rPr>
              <a:t>github.com/WebMCP-org/mcp-ui-webmcp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562356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8B95A7"/>
                </a:solidFill>
                <a:latin typeface="Calibri"/>
              </a:rPr>
              <a:t>the bidirectional reference repo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355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onsolas"/>
              </a:rPr>
              <a:t>DANIEL OSADCHENKO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