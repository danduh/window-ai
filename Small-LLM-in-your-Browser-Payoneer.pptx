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11480" cy="411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8408" y="415137"/>
            <a:ext cx="1828800" cy="408188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venir Next LT Pro"/>
              </a:rPr>
              <a:t>Payoneer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Avenir Next LT Pro"/>
              </a:rPr>
              <a:t>Small LLM in your browser.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Avenir Next LT Pro"/>
              </a:rPr>
              <a:t>Huge opportunities for web apps.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4114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C8C8D0"/>
                </a:solidFill>
                <a:latin typeface="Avenir Next LT Pro"/>
              </a:rPr>
              <a:t>Your browser is hiding an LLM. Let's go find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659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0A0A8"/>
                </a:solidFill>
                <a:latin typeface="Avenir Next LT Pro"/>
              </a:rPr>
              <a:t>Daniel Osadchenko  ·  windowai.danduh.me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92608" cy="2926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536" y="400872"/>
            <a:ext cx="1828800" cy="290267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venir Next LT Pro"/>
              </a:rPr>
              <a:t>Payoneer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CF2"/>
                </a:solidFill>
                <a:latin typeface="Avenir Next LT Pro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venir Next LT Pro"/>
              </a:rPr>
              <a:t>[ talk into the mic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A0A0A8"/>
                </a:solidFill>
                <a:latin typeface="Avenir Next LT Pro"/>
              </a:rPr>
              <a:t>Watch the page translate you, live, into four languages.</a:t>
            </a:r>
          </a:p>
        </p:txBody>
      </p:sp>
      <p:pic>
        <p:nvPicPr>
          <p:cNvPr id="7" name="Picture 6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venir Next LT Pro"/>
              </a:rPr>
              <a:t>Payoneer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7731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0A0A8"/>
                </a:solidFill>
                <a:latin typeface="Avenir Next LT Pro"/>
              </a:rPr>
              <a:t>01 / Cold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E6E78"/>
                </a:solidFill>
                <a:latin typeface="Avenir Next LT Pro"/>
              </a:rPr>
              <a:t>View-source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What just 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No backend.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911096"/>
            <a:ext cx="2651760" cy="0"/>
          </a:xfrm>
          <a:prstGeom prst="line">
            <a:avLst/>
          </a:prstGeom>
          <a:ln w="3175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No API key.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414016"/>
            <a:ext cx="2377440" cy="0"/>
          </a:xfrm>
          <a:prstGeom prst="line">
            <a:avLst/>
          </a:prstGeom>
          <a:ln w="3175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9748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No tokens.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916936"/>
            <a:ext cx="2240280" cy="0"/>
          </a:xfrm>
          <a:prstGeom prst="line">
            <a:avLst/>
          </a:prstGeom>
          <a:ln w="3175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200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No $0.002/request.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419856"/>
            <a:ext cx="4023360" cy="0"/>
          </a:xfrm>
          <a:prstGeom prst="line">
            <a:avLst/>
          </a:prstGeom>
          <a:ln w="3175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1691640"/>
            <a:ext cx="2377440" cy="246888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Just a static HTML page on a CDN.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20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6E78"/>
                </a:solidFill>
                <a:latin typeface="Avenir Next LT Pro"/>
              </a:rPr>
              <a:t>Everything ran on this laptop.</a:t>
            </a:r>
          </a:p>
        </p:txBody>
      </p:sp>
      <p:pic>
        <p:nvPicPr>
          <p:cNvPr id="15" name="Picture 14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CF2"/>
                </a:solidFill>
                <a:latin typeface="Avenir Next LT Pro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venir Next LT Pro"/>
              </a:rPr>
              <a:t>Why this changes the math.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91840"/>
            <a:ext cx="457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The shape we've been shipping.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E6E78"/>
                </a:solidFill>
                <a:latin typeface="Avenir Next LT Pro"/>
              </a:rPr>
              <a:t>User → server → someone else's GPU farm → 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1E28"/>
                </a:solidFill>
                <a:latin typeface="Avenir Next LT Pro"/>
              </a:rPr>
              <a:t>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9202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9202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1E28"/>
                </a:solidFill>
                <a:latin typeface="Avenir Next LT Pro"/>
              </a:rPr>
              <a:t>Your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9202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1E28"/>
                </a:solidFill>
                <a:latin typeface="Avenir Next LT Pro"/>
              </a:rPr>
              <a:t>Cloud 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9202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E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9202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1E28"/>
                </a:solidFill>
                <a:latin typeface="Avenir Next LT Pro"/>
              </a:rPr>
              <a:t>Your DB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37744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34840" y="237744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237744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48840" y="2944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33FF"/>
                </a:solidFill>
                <a:latin typeface="Avenir Next LT Pro"/>
              </a:rPr>
              <a:t>$ per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44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33FF"/>
                </a:solidFill>
                <a:latin typeface="Avenir Next LT Pro"/>
              </a:rPr>
              <a:t>600-1200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44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33FF"/>
                </a:solidFill>
                <a:latin typeface="Avenir Next LT Pro"/>
              </a:rPr>
              <a:t>PII leaves device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8229600" cy="640080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E1E28"/>
                </a:solidFill>
                <a:latin typeface="Avenir Next LT Pro"/>
              </a:rPr>
              <a:t>Every feature is an invoice. Every request is a round-trip. Every payload is a privacy decision.</a:t>
            </a:r>
          </a:p>
        </p:txBody>
      </p:sp>
      <p:pic>
        <p:nvPicPr>
          <p:cNvPr id="20" name="Picture 19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E1E28"/>
                </a:solidFill>
                <a:latin typeface="Avenir Next LT Pro"/>
              </a:rPr>
              <a:t>From per-call billing to a feature flag.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965960"/>
          </a:xfrm>
          <a:prstGeom prst="roundRect">
            <a:avLst>
              <a:gd name="adj" fmla="val 4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6809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FFFFFF"/>
                </a:solidFill>
                <a:latin typeface="Consolas"/>
              </a:rPr>
              <a:t>if </a:t>
            </a:r>
            <a:r>
              <a:rPr sz="2800" b="0">
                <a:solidFill>
                  <a:srgbClr val="FFFFFF"/>
                </a:solidFill>
                <a:latin typeface="Consolas"/>
              </a:rPr>
              <a:t>(</a:t>
            </a:r>
            <a:r>
              <a:rPr sz="2800" b="1">
                <a:solidFill>
                  <a:srgbClr val="0033FF"/>
                </a:solidFill>
                <a:latin typeface="Consolas"/>
              </a:rPr>
              <a:t>window.Summarizer</a:t>
            </a:r>
            <a:r>
              <a:rPr sz="2800" b="0">
                <a:solidFill>
                  <a:srgbClr val="FFFFFF"/>
                </a:solidFill>
                <a:latin typeface="Consolas"/>
              </a:rPr>
              <a:t>) {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A0A0A8"/>
                </a:solidFill>
                <a:latin typeface="Consolas"/>
              </a:rPr>
              <a:t>    const summary = await Summarizer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A0A0A8"/>
                </a:solidFill>
                <a:latin typeface="Consolas"/>
              </a:rPr>
              <a:t>        .create().summarize(thread);</a:t>
            </a:r>
          </a:p>
          <a:p>
            <a:pPr>
              <a:lnSpc>
                <a:spcPct val="130000"/>
              </a:lnSpc>
            </a:pPr>
            <a:r>
              <a:rPr sz="28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$0. No round-trip. No data leaving the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78"/>
                </a:solidFill>
                <a:latin typeface="Avenir Next LT Pro"/>
              </a:rPr>
              <a:t>The browser ate the API.</a:t>
            </a:r>
          </a:p>
        </p:txBody>
      </p:sp>
      <p:pic>
        <p:nvPicPr>
          <p:cNvPr id="7" name="Picture 6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Three things flip the moment you call window.ai.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78"/>
                </a:solidFill>
                <a:latin typeface="Avenir Next LT Pro"/>
              </a:rPr>
              <a:t>$0.002 / call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91540.0" y="2121408"/>
            <a:ext cx="1737360.0" cy="0"/>
          </a:xfrm>
          <a:prstGeom prst="line">
            <a:avLst/>
          </a:prstGeom>
          <a:ln w="2540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E1E28"/>
                </a:solidFill>
                <a:latin typeface="Avenir Next LT Pro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E1E28"/>
                </a:solidFill>
                <a:latin typeface="Avenir Next LT Pro"/>
              </a:rPr>
              <a:t>$0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8"/>
                </a:solidFill>
                <a:latin typeface="Avenir Next LT Pro"/>
              </a:rPr>
              <a:t>Per-token billing → free.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41732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78"/>
                </a:solidFill>
                <a:latin typeface="Avenir Next LT Pro"/>
              </a:rPr>
              <a:t>600-1200 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34740.0" y="2121408"/>
            <a:ext cx="1737360.0" cy="0"/>
          </a:xfrm>
          <a:prstGeom prst="line">
            <a:avLst/>
          </a:prstGeom>
          <a:ln w="2540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0040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E1E28"/>
                </a:solidFill>
                <a:latin typeface="Avenir Next LT Pro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71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E1E28"/>
                </a:solidFill>
                <a:latin typeface="Avenir Next LT Pro"/>
              </a:rPr>
              <a:t>8-40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5661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8"/>
                </a:solidFill>
                <a:latin typeface="Avenir Next LT Pro"/>
              </a:rPr>
              <a:t>Network gone. Local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41732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00200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78"/>
                </a:solidFill>
                <a:latin typeface="Avenir Next LT Pro"/>
              </a:rPr>
              <a:t>PII → cloud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77940.0" y="2121408"/>
            <a:ext cx="1737360.0" cy="0"/>
          </a:xfrm>
          <a:prstGeom prst="line">
            <a:avLst/>
          </a:prstGeom>
          <a:ln w="2540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0" y="24688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E1E28"/>
                </a:solidFill>
                <a:latin typeface="Avenir Next LT Pro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1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E1E28"/>
                </a:solidFill>
                <a:latin typeface="Avenir Next LT Pro"/>
              </a:rPr>
              <a:t>PII stays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56616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6E6E78"/>
                </a:solidFill>
                <a:latin typeface="Avenir Next LT Pro"/>
              </a:rPr>
              <a:t>Nothing leaves the laptop.</a:t>
            </a:r>
          </a:p>
        </p:txBody>
      </p:sp>
      <p:pic>
        <p:nvPicPr>
          <p:cNvPr id="24" name="Picture 2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CF2"/>
                </a:solidFill>
                <a:latin typeface="Avenir Next LT Pro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venir Next LT Pro"/>
              </a:rPr>
              <a:t>The toolbox.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91840"/>
            <a:ext cx="457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LanguageModel — the all-rounder.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Text in. Text out. Optionally: images and audio in too.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Create a session, prompt it, get back a stream or a string.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Multimodal input: pass a Blob with type 'image' or 'audio' alongside text.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Stream tokens with promptStreaming() — ReadableStream of strings.</a:t>
            </a:r>
          </a:p>
        </p:txBody>
      </p:sp>
      <p:pic>
        <p:nvPicPr>
          <p:cNvPr id="4" name="Picture 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Three task-specific APIs.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Summarizer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tl;dr a thread, an article, a meeting transcript.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type: 'tl;dr' | 'key-points'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length: 'short' | 'medium' | 'long'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Translator +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87452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Bidirectional translation between language pairs.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Source and target as ISO codes.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600">
                <a:solidFill>
                  <a:srgbClr val="1E1E28"/>
                </a:solidFill>
                <a:latin typeface="Avenir Next LT Pro"/>
              </a:rPr>
              <a:t>Detector returns confidence scores per language.</a:t>
            </a:r>
          </a:p>
        </p:txBody>
      </p:sp>
      <p:pic>
        <p:nvPicPr>
          <p:cNvPr id="7" name="Picture 6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Writer · Rewriter · Proofreader.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Writer generates new text from scratch — tone, length, format options.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Rewriter takes existing text and reshapes it: shorter, longer, more or less formal.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Proofreader returns a list of corrections with ranges and types.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All three share the same availability lifecycle as the rest.</a:t>
            </a:r>
          </a:p>
        </p:txBody>
      </p:sp>
      <p:pic>
        <p:nvPicPr>
          <p:cNvPr id="4" name="Picture 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Before you can call it, ask: can 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E6E78"/>
                </a:solidFill>
                <a:latin typeface="Avenir Next LT Pro"/>
              </a:rPr>
              <a:t>Every API exposes the same state machine. Build UX around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1965960" cy="219456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965960" cy="73152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562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600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E28"/>
                </a:solidFill>
                <a:latin typeface="Avenir Next LT Pro"/>
              </a:rPr>
              <a:t>Hardware or flag isn't there.
Show a fallback. Move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91640"/>
            <a:ext cx="1965960" cy="219456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2032" y="1691640"/>
            <a:ext cx="1965960" cy="73152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8562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downloadable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2331720"/>
            <a:ext cx="1600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E28"/>
                </a:solidFill>
                <a:latin typeface="Avenir Next LT Pro"/>
              </a:rPr>
              <a:t>Model exists but not yet on disk.
Trigger download with consent.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1691640"/>
            <a:ext cx="1965960" cy="219456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26864" y="1691640"/>
            <a:ext cx="1965960" cy="73152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8562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downloading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331720"/>
            <a:ext cx="1600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E28"/>
                </a:solidFill>
                <a:latin typeface="Avenir Next LT Pro"/>
              </a:rPr>
              <a:t>In progress.
Wire a progress event into the 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6" y="1691640"/>
            <a:ext cx="1965960" cy="219456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11696" y="1691640"/>
            <a:ext cx="1965960" cy="73152"/>
          </a:xfrm>
          <a:prstGeom prst="rect">
            <a:avLst/>
          </a:prstGeom>
          <a:solidFill>
            <a:srgbClr val="00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8562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331720"/>
            <a:ext cx="1600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E1E28"/>
                </a:solidFill>
                <a:latin typeface="Avenir Next LT Pro"/>
              </a:rPr>
              <a:t>Ready. Call create() immediately.
This is the happy path.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78"/>
                </a:solidFill>
                <a:latin typeface="Consolas"/>
              </a:rPr>
              <a:t>const status = await Summarizer.availability();</a:t>
            </a:r>
          </a:p>
        </p:txBody>
      </p:sp>
      <p:pic>
        <p:nvPicPr>
          <p:cNvPr id="21" name="Picture 20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CF2"/>
                </a:solidFill>
                <a:latin typeface="Avenir Next LT Pro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venir Next LT Pro"/>
              </a:rPr>
              <a:t>Live demos.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91840"/>
            <a:ext cx="457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Classify an uploaded ID photo.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Drag a passport. Drag a coffee cup. Drag a screenshot.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Same code path. All locally.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Prompt API, multimodal: expectedInputs includes 'image'.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Structured output via responseConstraint with a JSON Schema.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Network tab during the demo: empty.</a:t>
            </a:r>
          </a:p>
        </p:txBody>
      </p:sp>
      <p:pic>
        <p:nvPicPr>
          <p:cNvPr id="4" name="Picture 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Draft a reply in the user's tone.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Incoming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1E28"/>
                </a:solidFill>
                <a:latin typeface="Avenir Next LT Pro"/>
              </a:rPr>
              <a:t>"Hey — quick one. Can we push the demo cut by a week? We just got the partner data and it changes the framing."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1E28"/>
                </a:solidFill>
                <a:latin typeface="Avenir Next LT Pro"/>
              </a:rPr>
              <a:t>Drafted 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87452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1E28"/>
                </a:solidFill>
                <a:latin typeface="Avenir Next LT Pro"/>
              </a:rPr>
              <a:t>"yeah, no problem — push it. send me the partner data when you have a sec and i'll re-shape the framing on my end. ttyl."</a:t>
            </a:r>
          </a:p>
        </p:txBody>
      </p:sp>
      <p:pic>
        <p:nvPicPr>
          <p:cNvPr id="7" name="Picture 6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CCF2"/>
                </a:solidFill>
                <a:latin typeface="Avenir Next LT Pro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venir Next LT Pro"/>
              </a:rPr>
              <a:t>The second twist.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291840"/>
            <a:ext cx="457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E1E28"/>
                </a:solidFill>
                <a:latin typeface="Avenir Next LT Pro"/>
              </a:rPr>
              <a:t>WebMCP: typed actions, from the page.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78"/>
                </a:solidFill>
                <a:latin typeface="Consolas"/>
              </a:rPr>
              <a:t>Chrome 146 Canary — navigator.modelContext.registerTool(...).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2103120"/>
          </a:xfrm>
          <a:prstGeom prst="roundRect">
            <a:avLst>
              <a:gd name="adj" fmla="val 4000"/>
            </a:avLst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76809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033FF"/>
                </a:solidFill>
                <a:latin typeface="Consolas"/>
              </a:rPr>
              <a:t>navigator.modelContext</a:t>
            </a:r>
            <a:r>
              <a:rPr sz="1400" b="0">
                <a:solidFill>
                  <a:srgbClr val="FFFFFF"/>
                </a:solidFill>
                <a:latin typeface="Consolas"/>
              </a:rPr>
              <a:t>.registerTool({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A0A0A8"/>
                </a:solidFill>
                <a:latin typeface="Consolas"/>
              </a:rPr>
              <a:t>  name: </a:t>
            </a:r>
            <a:r>
              <a:rPr sz="1400" b="0">
                <a:solidFill>
                  <a:srgbClr val="FFFFFF"/>
                </a:solidFill>
                <a:latin typeface="Consolas"/>
              </a:rPr>
              <a:t>'addToCart'</a:t>
            </a:r>
            <a:r>
              <a:rPr sz="1400" b="0">
                <a:solidFill>
                  <a:srgbClr val="A0A0A8"/>
                </a:solidFill>
                <a:latin typeface="Consolas"/>
              </a:rPr>
              <a:t>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A0A0A8"/>
                </a:solidFill>
                <a:latin typeface="Consolas"/>
              </a:rPr>
              <a:t>  description: </a:t>
            </a:r>
            <a:r>
              <a:rPr sz="1400" b="0">
                <a:solidFill>
                  <a:srgbClr val="FFFFFF"/>
                </a:solidFill>
                <a:latin typeface="Consolas"/>
              </a:rPr>
              <a:t>'Add a product to the current cart'</a:t>
            </a:r>
            <a:r>
              <a:rPr sz="1400" b="0">
                <a:solidFill>
                  <a:srgbClr val="A0A0A8"/>
                </a:solidFill>
                <a:latin typeface="Consolas"/>
              </a:rPr>
              <a:t>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A0A0A8"/>
                </a:solidFill>
                <a:latin typeface="Consolas"/>
              </a:rPr>
              <a:t>  inputSchema: { type: 'object', properties: { sku: { type: 'string' } } },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A0A0A8"/>
                </a:solidFill>
                <a:latin typeface="Consolas"/>
              </a:rPr>
              <a:t>  async execute({ sku }) { return cart.add(sku); },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Same tool. Two consumers.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347472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03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Your own chatbot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114800"/>
            <a:ext cx="347472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003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41148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Someone else's agent</a:t>
            </a:r>
          </a:p>
        </p:txBody>
      </p:sp>
      <p:pic>
        <p:nvPicPr>
          <p:cNvPr id="11" name="Picture 10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E1E28"/>
                </a:solidFill>
                <a:latin typeface="Avenir Next LT Pro"/>
              </a:rPr>
              <a:t>The tool returns UI. UI registers more tools.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E78"/>
                </a:solidFill>
                <a:latin typeface="Avenir Next LT Pro"/>
              </a:rPr>
              <a:t>MCP Apps + WebMCP — generative UI inside the agent's own chat.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828800" cy="164592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33FF"/>
                </a:solidFill>
                <a:latin typeface="Avenir Next LT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E1E28"/>
                </a:solidFill>
                <a:latin typeface="Avenir Next LT Pro"/>
              </a:rPr>
              <a:t>Agent calls
searchRecipes()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828800"/>
            <a:ext cx="1828800" cy="164592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33FF"/>
                </a:solidFill>
                <a:latin typeface="Avenir Next LT Pr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E1E28"/>
                </a:solidFill>
                <a:latin typeface="Avenir Next LT Pro"/>
              </a:rPr>
              <a:t>Tool returns
UI resource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28800"/>
            <a:ext cx="1828800" cy="164592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33FF"/>
                </a:solidFill>
                <a:latin typeface="Avenir Next LT Pr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51460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E1E28"/>
                </a:solidFill>
                <a:latin typeface="Avenir Next LT Pro"/>
              </a:rPr>
              <a:t>Iframe renders
inside chat bubble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1828800" cy="1645920"/>
          </a:xfrm>
          <a:prstGeom prst="roundRect">
            <a:avLst>
              <a:gd name="adj" fmla="val 10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33FF"/>
                </a:solidFill>
                <a:latin typeface="Avenir Next LT Pro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14600"/>
            <a:ext cx="1554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E1E28"/>
                </a:solidFill>
                <a:latin typeface="Avenir Next LT Pro"/>
              </a:rPr>
              <a:t>Iframe registers
commitRecipe()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265176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840" y="265176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83680" y="2651760"/>
            <a:ext cx="320040" cy="0"/>
          </a:xfrm>
          <a:prstGeom prst="line">
            <a:avLst/>
          </a:prstGeom>
          <a:ln w="19050">
            <a:solidFill>
              <a:srgbClr val="1E1E2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.0" y="3474720"/>
            <a:ext cx="0.0" cy="164592"/>
          </a:xfrm>
          <a:prstGeom prst="line">
            <a:avLst/>
          </a:prstGeom>
          <a:ln w="2286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371600.0" y="3639312"/>
            <a:ext cx="6446520.0" cy="0"/>
          </a:xfrm>
          <a:prstGeom prst="line">
            <a:avLst/>
          </a:prstGeom>
          <a:ln w="22860">
            <a:solidFill>
              <a:srgbClr val="003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71600.0" y="3474720"/>
            <a:ext cx="0.0" cy="164592"/>
          </a:xfrm>
          <a:prstGeom prst="line">
            <a:avLst/>
          </a:prstGeom>
          <a:ln w="22860">
            <a:solidFill>
              <a:srgbClr val="0033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3685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33FF"/>
                </a:solidFill>
                <a:latin typeface="Avenir Next LT Pro"/>
              </a:rPr>
              <a:t>…and the agent calls the new tool.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E1E28"/>
                </a:solidFill>
                <a:latin typeface="Avenir Next LT Pro"/>
              </a:rPr>
              <a:t>Zero DOM scraping. Zero backend. Page and agent are peers now.</a:t>
            </a:r>
          </a:p>
        </p:txBody>
      </p:sp>
      <p:pic>
        <p:nvPicPr>
          <p:cNvPr id="24" name="Picture 2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The Recipe Workbench.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"Find me a 30-minute chicken recipe and add it to tonight's plan."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The recipe-card carousel renders as an iframe inside the chat bubble.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Clicking 'Pick' registers a brand-new tool back to the agent.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The agent discovers it mid-turn and commits the recipe to the plan.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Network tab during the demo: still empty.</a:t>
            </a:r>
          </a:p>
        </p:txBody>
      </p:sp>
      <p:pic>
        <p:nvPicPr>
          <p:cNvPr id="4" name="Picture 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914400"/>
            <a:ext cx="7772400" cy="3200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463040"/>
            <a:ext cx="66751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1E1E28"/>
                </a:solidFill>
                <a:latin typeface="Avenir Next LT Pro"/>
              </a:rPr>
              <a:t>“Is our product reachable by AI agents?”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34747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6E78"/>
                </a:solidFill>
                <a:latin typeface="Avenir Next LT Pro"/>
              </a:rPr>
              <a:t>— The new product question. Not a 2027 problem.</a:t>
            </a:r>
          </a:p>
        </p:txBody>
      </p:sp>
      <p:pic>
        <p:nvPicPr>
          <p:cNvPr id="5" name="Picture 4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E1E28"/>
                </a:solidFill>
                <a:latin typeface="Avenir Next LT Pro"/>
              </a:rPr>
              <a:t>Honest limits.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Chrome-first. Other browsers will catch up — for now, plan a fallback.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Small ≠ frontier. Classify, summarize, translate — yes. Multi-step novel reasoning — be careful.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First-use model download is 1-4 GB on disk. Trigger with consent. Wire the 'downloading' state into real UI.</a:t>
            </a:r>
          </a:p>
          <a:p>
            <a:pPr algn="l" marL="256032" indent="-256032">
              <a:lnSpc>
                <a:spcPct val="125000"/>
              </a:lnSpc>
              <a:spcAft>
                <a:spcPts val="600"/>
              </a:spcAft>
              <a:buChar char="•"/>
              <a:buClr>
                <a:srgbClr val="1E1E28"/>
              </a:buClr>
            </a:pPr>
            <a:r>
              <a:rPr sz="1800">
                <a:solidFill>
                  <a:srgbClr val="1E1E28"/>
                </a:solidFill>
                <a:latin typeface="Avenir Next LT Pro"/>
              </a:rPr>
              <a:t>Context limits — about 4K in, 1K out for the small model. Chunk and stream long inputs.</a:t>
            </a:r>
          </a:p>
        </p:txBody>
      </p:sp>
      <p:pic>
        <p:nvPicPr>
          <p:cNvPr id="4" name="Picture 3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09160"/>
            <a:ext cx="25603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39883"/>
            <a:ext cx="1828800" cy="253983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l"/>
            <a:r>
              <a:rPr sz="1300" b="1">
                <a:solidFill>
                  <a:srgbClr val="1E1E28"/>
                </a:solidFill>
                <a:latin typeface="Avenir Next LT Pro"/>
              </a:rPr>
              <a:t>Payoneer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l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2011680" cy="2011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venir Next LT Pro"/>
              </a:rPr>
              <a:t>Thank you. windowai.danduh.me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LLM in your browser</dc:title>
  <dc:subject/>
  <dc:creator>Daniel Osadchenko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